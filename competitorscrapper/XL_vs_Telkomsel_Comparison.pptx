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Competitive Intelligence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XL vs Telkomsel
Product Pricing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47472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KARTU PERDANA  ·  BROADBAND  ·  ADD-ON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Prepared: 12 June 2026   |   Source: xl.co.id · telkomsel.com · byu.id   |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Key Findings: XL vs Telkomsel Product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474720" cy="32918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474720" cy="54864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Price Aggressiveness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XL offers more SKUs in the &lt;Rp30K segment — particularly in Kartu Perdana. Telkomsel SIMPATI dominates mid-tier (Rp30K–70K) with richer quota bundles.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097280"/>
            <a:ext cx="3474720" cy="32918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097280"/>
            <a:ext cx="3474720" cy="54864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Quota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16916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byU leads in data-per-rupiah ratio at all price bands, leveraging digital-first positioning with no physical store overhead.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097280"/>
            <a:ext cx="3474720" cy="32918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097280"/>
            <a:ext cx="3474720" cy="54864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Add-On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16916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Telkomsel provides a broader add-on catalogue (streaming, roaming, calls). XL add-ons are mostly data top-ups with limited voice options.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CC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6172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B49"/>
                </a:solidFill>
              </a:rPr>
              <a:t>&lt; Rp 30.000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492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XL: 5 products   |   Telkomsel: 1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6172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B49"/>
                </a:solidFill>
              </a:rPr>
              <a:t>Rp 30.000 – 70.000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6492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XL: 0 products   |   Telkomsel: 0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6172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B49"/>
                </a:solidFill>
              </a:rPr>
              <a:t>Rp 70.000 – 100.000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92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XL: 0 products   |   Telkomsel: 0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</a:rPr>
              <a:t>CONFIDENTIAL  |  For internal use only  |  Source: Firecrawl automated scrape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6565392"/>
            <a:ext cx="121889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PRODUCT COMPARISON — KARTU PERDANA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Products grouped by price band across brands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&lt; Rp 30.000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Rp 30.000 – 70.000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005840"/>
            <a:ext cx="265176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Rp 70.000 – 100.000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417320"/>
            <a:ext cx="310896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417320"/>
            <a:ext cx="73152" cy="1508760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1920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XL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4173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904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Personal**  |  –  |  Rp 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4173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017520"/>
            <a:ext cx="310896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01752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" y="3520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Telkomsel SIMPATI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17720"/>
            <a:ext cx="310896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617720"/>
            <a:ext cx="73152" cy="1508760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Telkomsel byU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6177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4690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Kuota Favorit Anak by.U  |  7 GB  |  Rp 15.000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6177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46177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</a:rPr>
              <a:t>CONFIDENTIAL  |  For internal use only  |  Source: Firecrawl automated scrape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0" y="6565392"/>
            <a:ext cx="121889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PRODUCT COMPARISON —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Products grouped by price band across brands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&lt; Rp 30.000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Rp 30.000 – 70.000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005840"/>
            <a:ext cx="265176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Rp 70.000 – 100.000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417320"/>
            <a:ext cx="310896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417320"/>
            <a:ext cx="73152" cy="1508760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1920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XL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4173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904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Personal**  |  –  |  Rp 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019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Isi Pulsa Langsung Jadi Kuota  |  1 GB  |  Rp 5.000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134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  |  –  |  Rp 25.000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4173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3017520"/>
            <a:ext cx="310896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01752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" y="3520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Telkomsel SIMPATI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617720"/>
            <a:ext cx="310896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617720"/>
            <a:ext cx="73152" cy="1508760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Telkomsel byU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46177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4690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Kuota Favorit Anak by.U  |  7 GB  |  Rp 15.000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46177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46177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</a:rPr>
              <a:t>CONFIDENTIAL  |  For internal use only  |  Source: Firecrawl automated scrape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0" y="6565392"/>
            <a:ext cx="121889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PRODUCT COMPARISON — ADD-ON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Products grouped by price band across brands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&lt; Rp 30.000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Rp 30.000 – 70.000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005840"/>
            <a:ext cx="265176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Rp 70.000 – 100.000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417320"/>
            <a:ext cx="310896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417320"/>
            <a:ext cx="73152" cy="1508760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1920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XL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4173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904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Personal**  |  –  |  Rp 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4173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017520"/>
            <a:ext cx="310896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01752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" y="3520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Telkomsel SIMPATI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17720"/>
            <a:ext cx="310896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617720"/>
            <a:ext cx="73152" cy="1508760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49"/>
                </a:solidFill>
              </a:rPr>
              <a:t>Telkomsel byU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6177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4690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Kuota Favorit Anak by.U  |  7 GB  |  Rp 15.000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6177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46177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</a:rPr>
              <a:t>CONFIDENTIAL  |  For internal use only  |  Source: Firecrawl automated scrape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0" y="6565392"/>
            <a:ext cx="121889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PRICE BAND DEEP-DIVE — &lt; Rp 30.000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All categories · all brands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347472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Kartu Perdana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474720" cy="292608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53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Personal**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2938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</a:rPr>
              <a:t>  Rp 45  ·  –  ·  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58568"/>
            <a:ext cx="347472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951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SIMPATI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511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08376"/>
            <a:ext cx="3474720" cy="292608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044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byU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0098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Kuota Favorit Anak by.U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5204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</a:rPr>
              <a:t>  Rp 15.000  ·  7 GB  ·  14 Hari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005840"/>
            <a:ext cx="347472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Broadband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1417320"/>
            <a:ext cx="3474720" cy="292608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453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099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Personal**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192938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</a:rPr>
              <a:t>  Rp 45  ·  –  ·  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148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Isi Pulsa Langsung Jadi Kuota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36829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</a:rPr>
              <a:t>  Rp 5.000  ·  1 GB  ·  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5877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80720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</a:rPr>
              <a:t>  Rp 25.000  ·  –  ·  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136392"/>
            <a:ext cx="347472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31729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SIMPATI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3886200"/>
            <a:ext cx="3474720" cy="292608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39227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byU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17880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Kuota Favorit Anak by.U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39826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</a:rPr>
              <a:t>  Rp 15.000  ·  7 GB  ·  14 Hari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1005840"/>
            <a:ext cx="347472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Add-On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1417320"/>
            <a:ext cx="3474720" cy="292608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80" y="1453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80" y="17099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Personal**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192938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</a:rPr>
              <a:t>  Rp 45  ·  –  ·  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2258568"/>
            <a:ext cx="347472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26680" y="22951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SIMPATI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25511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3008376"/>
            <a:ext cx="3474720" cy="292608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80" y="3044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byU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330098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• Kuota Favorit Anak by.U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80" y="35204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</a:rPr>
              <a:t>  Rp 15.000  ·  7 GB  ·  14 Hari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</a:rPr>
              <a:t>CONFIDENTIAL  |  For internal use only  |  Source: Firecrawl automated scrape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0" y="6565392"/>
            <a:ext cx="121889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PRICE BAND DEEP-DIVE — Rp 30.000 – 70.000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All categories · all brands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347472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Kartu Perdana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474720" cy="292608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53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09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167128"/>
            <a:ext cx="347472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203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SIMPATI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59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916936"/>
            <a:ext cx="3474720" cy="292608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953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byU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095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005840"/>
            <a:ext cx="347472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Broadband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417320"/>
            <a:ext cx="3474720" cy="292608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453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1709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2167128"/>
            <a:ext cx="347472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203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SIMPATI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459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916936"/>
            <a:ext cx="3474720" cy="292608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953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byU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2095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1005840"/>
            <a:ext cx="347472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Add-On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1417320"/>
            <a:ext cx="3474720" cy="292608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1453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709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2167128"/>
            <a:ext cx="347472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2203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SIMPATI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459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2916936"/>
            <a:ext cx="3474720" cy="292608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0" y="2953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byU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2095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</a:rPr>
              <a:t>CONFIDENTIAL  |  For internal use only  |  Source: Firecrawl automated scrape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0" y="6565392"/>
            <a:ext cx="121889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PRICE BAND DEEP-DIVE — Rp 70.000 – 100.000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All categories · all brands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347472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Kartu Perdana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474720" cy="292608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53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09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167128"/>
            <a:ext cx="347472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203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SIMPATI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59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916936"/>
            <a:ext cx="3474720" cy="292608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953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byU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095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005840"/>
            <a:ext cx="347472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Broadband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417320"/>
            <a:ext cx="3474720" cy="292608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453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1709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2167128"/>
            <a:ext cx="347472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203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SIMPATI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459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916936"/>
            <a:ext cx="3474720" cy="292608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953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byU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2095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1005840"/>
            <a:ext cx="3474720" cy="347472"/>
          </a:xfrm>
          <a:prstGeom prst="rect">
            <a:avLst/>
          </a:prstGeom>
          <a:solidFill>
            <a:srgbClr val="00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Add-On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1417320"/>
            <a:ext cx="3474720" cy="292608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1453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709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2167128"/>
            <a:ext cx="347472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2203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SIMPATI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459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2916936"/>
            <a:ext cx="3474720" cy="292608"/>
          </a:xfrm>
          <a:prstGeom prst="rect">
            <a:avLst/>
          </a:prstGeom>
          <a:solidFill>
            <a:srgbClr val="009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0" y="2953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Telkomsel byU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2095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No products in this band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</a:rPr>
              <a:t>CONFIDENTIAL  |  For internal use only  |  Source: Firecrawl automated scrape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0" y="6565392"/>
            <a:ext cx="121889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STRATEGIC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Recommended actions for Telkomsel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57784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577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2471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B4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1430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49"/>
                </a:solidFill>
              </a:rPr>
              <a:t>Defend Mid-Tier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Rp 30K–70K band is the highest-volume segment. Telkomsel SIMPATI should reinforce value proposition through bonus quota and loyalty rewards to counter XL's price cuts.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51560"/>
            <a:ext cx="557784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5577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12471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B4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430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49"/>
                </a:solidFill>
              </a:rPr>
              <a:t>Accelerate byU in Low-Tier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18488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byU's digital cost advantage enables competitive pricing below Rp 30K. Expand SKU count targeting urban youth replacing postpaid with flexible prepaid.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20440"/>
            <a:ext cx="557784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5577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5935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B49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1188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49"/>
                </a:solidFill>
              </a:rPr>
              <a:t>Broaden Broadband Add-Ons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87368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XL's broadband catalogue lacks value-add services. Telkomsel can differentiate via bundled streaming (Maxstream) and smart-home IoT packages.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20440"/>
            <a:ext cx="557784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5577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5935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B4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61188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49"/>
                </a:solidFill>
              </a:rPr>
              <a:t>Monitor XL's Entry 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87368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XL is actively discounting Kartu Perdana entry packs. A quarterly price-scraping cadence is recommended to detect positioning shifts within 48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</a:rPr>
              <a:t>CONFIDENTIAL  |  For internal use only  |  Source: Firecrawl automated scrape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0" y="6565392"/>
            <a:ext cx="121889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